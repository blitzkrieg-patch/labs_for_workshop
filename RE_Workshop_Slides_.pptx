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 — Opening</a:t>
            </a:r>
          </a:p>
          <a:p/>
          <a:p>
            <a:r>
              <a:t>Open with the locked-box analogy, then define reverse engineering as evidence-backed reconstruction. Set the Windows-first promise: PE triage, static analysis, controlled debugging, packing, anti-debugging, and a safe malware-analysis workflow.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 — Roadmap</a:t>
            </a:r>
          </a:p>
          <a:p/>
          <a:p>
            <a:r>
              <a:t>Explain the learning progression rather than reading the agenda. Name the three demos: a signed benign Windows utility, a benign packed build, and a malware specimen handled inside an isolated lab.</a:t>
            </a:r>
          </a:p>
          <a:p/>
          <a:p>
            <a:r>
              <a:t>[Sources]</a:t>
            </a:r>
          </a:p>
          <a:p>
            <a:r>
              <a:t>- FLARE-VM: https://github.com/mandiant/flare-vm</a:t>
            </a:r>
          </a:p>
          <a:p>
            <a:r>
              <a:t>- REMnux: https://docs.remnux.org/</a:t>
            </a:r>
          </a:p>
          <a:p>
            <a:r>
              <a:t>- MITRE ATT&amp;CK: https://attack.mitre.org/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— What reverse engineering is</a:t>
            </a:r>
          </a:p>
          <a:p/>
          <a:p>
            <a:r>
              <a:t>Say that reverse engineering is neutral; authorization and context determine whether a particular activity is appropriate. If challenged on legality, say it depends on jurisdiction, license, purpose, and authorization; do not give legal advice.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 — Why it matters</a:t>
            </a:r>
          </a:p>
          <a:p/>
          <a:p>
            <a:r>
              <a:t>Use maintenance and vulnerability research to make the value concrete. The deliverable is a model of boundaries, inputs, outputs, and failure modes before anyone changes or exploits the target.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 — Malware and CTF context</a:t>
            </a:r>
          </a:p>
          <a:p/>
          <a:p>
            <a:r>
              <a:t>For malware analysis, emphasize detection, scoping, and recovery. Set safety rules now: no credentials, no host shares, no personal files, and no live malware execution outside a disposable lab snapshot.</a:t>
            </a:r>
          </a:p>
          <a:p/>
          <a:p>
            <a:r>
              <a:t>[Sources]</a:t>
            </a:r>
          </a:p>
          <a:p>
            <a:r>
              <a:t>- FLARE-VM: https://github.com/mandiant/flare-vm</a:t>
            </a:r>
          </a:p>
          <a:p>
            <a:r>
              <a:t>- REMnux: https://docs.remnux.org/</a:t>
            </a:r>
          </a:p>
          <a:p>
            <a:r>
              <a:t>- MITRE ATT&amp;CK: https://attack.mitre.org/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 — Foundations</a:t>
            </a:r>
          </a:p>
          <a:p/>
          <a:p>
            <a:r>
              <a:t>Transition from why to how. The key idea is information loss: names and source structure are optional, but machine semantics and ABI behavior remain.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 — Compilation pipeline</a:t>
            </a:r>
          </a:p>
          <a:p/>
          <a:p>
            <a:r>
              <a:t>Walk preprocessing, compilation, assembly, and linking. Land the challenge-proof sentence: IDA/Ghidra shows compiler and linker output, not programmer intent. Optimization can inline, unroll, fold, reorder, and eliminate.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 — Information lost</a:t>
            </a:r>
          </a:p>
          <a:p/>
          <a:p>
            <a:r>
              <a:t>Explain why -O0 only helps practice binaries. Real targets are optimized, and undefined behavior can make source-level expectations unreliable. Treat recovered structure as a hypothesis.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 — Registers</a:t>
            </a:r>
          </a:p>
          <a:p/>
          <a:p>
            <a:r>
              <a:t>Point out the EAX-to-RAX zero-extension rule. For the Windows demo, check the PE machine type; do not assume every .exe is PE32+ x86-64.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 — Calling conventions</a:t>
            </a:r>
          </a:p>
          <a:p/>
          <a:p>
            <a:r>
              <a:t>Make the Windows/Linux distinction explicit. Microsoft x64 uses RCX, RDX, R8, R9 for the first four integer or pointer arguments and reserves 32 bytes of shadow space. System V uses RDI, RSI, RDX, RCX, R8, R9.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 — Register volatility</a:t>
            </a:r>
          </a:p>
          <a:p/>
          <a:p>
            <a:r>
              <a:t>This slide is System V-specific. Say that Windows x64 has a different nonvolatile set. The practical move is to inspect what a call may overwrite and where the caller saves values it still needs.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 — Stack frames</a:t>
            </a:r>
          </a:p>
          <a:p/>
          <a:p>
            <a:r>
              <a:t>Show the canonical prologue, then qualify it: optimized code may omit RBP, use RSP-relative locals, fold epilogues, or tail-call another function. Windows x64 has no red zone; System V does.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 — Stack alignment</a:t>
            </a:r>
          </a:p>
          <a:p/>
          <a:p>
            <a:r>
              <a:t>Explain alignment as an ABI guarantee before a call, not a claim that every SSE instruction faults. MOVAPS and MOVDQA have alignment requirements; other instructions tolerate unaligned addresses.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 — ELF</a:t>
            </a:r>
          </a:p>
          <a:p/>
          <a:p>
            <a:r>
              <a:t>Keep sections and segments separate: sections are mainly for linkers and tools; segments describe what the loader maps and with what permissions. .dynsym is not guaranteed in every ELF; it is relevant to dynamically linked objects.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 — GOT and PLT</a:t>
            </a:r>
          </a:p>
          <a:p/>
          <a:p>
            <a:r>
              <a:t>Tell the GOT/PLT story in order: PLT stub, first resolution, GOT slot, later direct-through-GOT calls. Mention partial versus full RELRO and BIND_NOW as the hardening nuance.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 — PE and IAT</a:t>
            </a:r>
          </a:p>
          <a:p/>
          <a:p>
            <a:r>
              <a:t>Correct the shorthand: PE import and export directories are described by data-directory entries and often live in .rdata, but section names are not mandatory. The IAT is loader-populated; delay-load imports are a lazy exception. Use this slide to launch Demo 1.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FLARE-VM: https://github.com/mandiant/flare-vm</a:t>
            </a:r>
          </a:p>
          <a:p>
            <a:r>
              <a:t>- REMnux: https://docs.remnux.org/</a:t>
            </a:r>
          </a:p>
          <a:p>
            <a:r>
              <a:t>- MITRE ATT&amp;CK: https://attack.mitre.org/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19 — Static analysis</a:t>
            </a:r>
          </a:p>
          <a:p/>
          <a:p>
            <a:r>
              <a:t>Set up the deepest section: static analysis is attention management. The goal is to reduce thousands of functions to a small set of hypotheses worth testing.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 — IDA and Ghidra</a:t>
            </a:r>
          </a:p>
          <a:p/>
          <a:p>
            <a:r>
              <a:t>Be honest about IDA versus Ghidra. Ghidra is sufficient for many tasks; IDA often compounds advantages on difficult architectures, plugin ecosystems, and large commercial codebases. Validate either tool against raw instructions.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21 — Window order</a:t>
            </a:r>
          </a:p>
          <a:p/>
          <a:p>
            <a:r>
              <a:t>Present imports, strings, and xrefs as a heuristic order, not a universal law or a measured 99% guarantee. Packed binaries and dynamic API resolution can make the first two views incomplete.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22 — Imports and strings</a:t>
            </a:r>
          </a:p>
          <a:p/>
          <a:p>
            <a:r>
              <a:t>Imports are capabilities, not verdicts. Strings include UTF-16LE on Windows; sparse strings may mean wrong encoding, short-string thresholds, resources, or runtime decoding. Ask the audience to predict Demo 1 behavior before showing the graph.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23 — Xrefs</a:t>
            </a:r>
          </a:p>
          <a:p/>
          <a:p>
            <a:r>
              <a:t>Xrefs are the leverage point. From a unique success string, jump to the branch and work backward to the condition; then forward again to verify data flow. If there are twenty xrefs, choose a more specific landmark.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24 — Hex and structures</a:t>
            </a:r>
          </a:p>
          <a:p/>
          <a:p>
            <a:r>
              <a:t>Drop to raw bytes when decoding is suspect: packed stubs, junk bytes, embedded blobs, and self-modifying regions. Define structures only when field boundaries are supported by multiple references.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25 — Graph and decompiler</a:t>
            </a:r>
          </a:p>
          <a:p/>
          <a:p>
            <a:r>
              <a:t>Graph view shows control-flow shape; text view shows exact instruction order; the decompiler gives a readable reconstruction. None is authoritative alone. Retype variables when the decompiler is wrong.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26 — Rename and retype</a:t>
            </a:r>
          </a:p>
          <a:p/>
          <a:p>
            <a:r>
              <a:t>Rename as soon as evidence is good enough. Names propagate across functions, xrefs, and pseudocode, so the session becomes progressively easier to read. Revise names when the hypothesis changes.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27 — Compiler versus author code</a:t>
            </a:r>
          </a:p>
          <a:p/>
          <a:p>
            <a:r>
              <a:t>Filter CRT startup, static libraries, compiler helpers, and unwind machinery before spending attention on author logic. Prioritize code near the entry path that references binary-specific strings or consumes input.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28 — Dynamic analysis</a:t>
            </a:r>
          </a:p>
          <a:p/>
          <a:p>
            <a:r>
              <a:t>Static analysis proposes where to look; dynamic analysis tests one concrete path. In a Windows-only room, translate the Linux debugger slide to x64dbg or WinDbg.</a:t>
            </a:r>
          </a:p>
          <a:p/>
          <a:p>
            <a:r>
              <a:t>[Sources]</a:t>
            </a:r>
          </a:p>
          <a:p>
            <a:r>
              <a:t>- Microsoft Learn — Windows debugging tools: https://learn.microsoft.com/windows-hardware/drivers/debugger/</a:t>
            </a:r>
          </a:p>
          <a:p>
            <a:r>
              <a:t>- pwndbg documentation: https://pwndbg.re/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29 — Debugger essentials</a:t>
            </a:r>
          </a:p>
          <a:p/>
          <a:p>
            <a:r>
              <a:t>Explain each debugger command by the question it answers. On Windows, use CPU, registers, stack, dump, memory-map, and breakpoint panes as the same mental model as GDB/pwndbg.</a:t>
            </a:r>
          </a:p>
          <a:p/>
          <a:p>
            <a:r>
              <a:t>[Sources]</a:t>
            </a:r>
          </a:p>
          <a:p>
            <a:r>
              <a:t>- Microsoft Learn — Windows debugging tools: https://learn.microsoft.com/windows-hardware/drivers/debugger/</a:t>
            </a:r>
          </a:p>
          <a:p>
            <a:r>
              <a:t>- pwndbg documentation: https://pwndbg.re/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30 — Questions while debugging</a:t>
            </a:r>
          </a:p>
          <a:p/>
          <a:p>
            <a:r>
              <a:t>Dynamic analysis is not run-and-watch. Break at the comparison, bracket transformations, and compare bytes before and after. Timing claims require repeated controlled runs and noise analysis.</a:t>
            </a:r>
          </a:p>
          <a:p/>
          <a:p>
            <a:r>
              <a:t>[Sources]</a:t>
            </a:r>
          </a:p>
          <a:p>
            <a:r>
              <a:t>- Microsoft Learn — Windows debugging tools: https://learn.microsoft.com/windows-hardware/drivers/debugger/</a:t>
            </a:r>
          </a:p>
          <a:p>
            <a:r>
              <a:t>- pwndbg documentation: https://pwndbg.re/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31 — Debugger windows</a:t>
            </a:r>
          </a:p>
          <a:p/>
          <a:p>
            <a:r>
              <a:t>Registers, stack, disassembly, memory maps, and breakpoints are one synchronized evidence surface. Every stop should answer a question.</a:t>
            </a:r>
          </a:p>
          <a:p/>
          <a:p>
            <a:r>
              <a:t>[Sources]</a:t>
            </a:r>
          </a:p>
          <a:p>
            <a:r>
              <a:t>- Microsoft Learn — Windows debugging tools: https://learn.microsoft.com/windows-hardware/drivers/debugger/</a:t>
            </a:r>
          </a:p>
          <a:p>
            <a:r>
              <a:t>- pwndbg documentation: https://pwndbg.re/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32 — Reset</a:t>
            </a:r>
          </a:p>
          <a:p/>
          <a:p>
            <a:r>
              <a:t>Use the meme to normalize debugging frustration: the fix for forty breakpoints is a smaller hypothesis or a better observation, not breakpoint number forty-one.</a:t>
            </a:r>
          </a:p>
          <a:p/>
          <a:p>
            <a:r>
              <a:t>[Sources]</a:t>
            </a:r>
          </a:p>
          <a:p>
            <a:r>
              <a:t>- No external source; presenter guidance and supplied workshop content.</a:t>
            </a:r>
          </a:p>
          <a:p>
            <a:r>
              <a:t>
[Sources]
- Meme image: This Is Fine meme, sourced from Meme-Arsenal template page: https://www.meme-arsenal.com/en/create/template/12181603 (accessed 2026-08-08). Meme origin context: KC Green / Gunshow.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33 — Obfuscation</a:t>
            </a:r>
          </a:p>
          <a:p/>
          <a:p>
            <a:r>
              <a:t>Name the transformation boundary: junk code attacks decoding, CFF attacks graph readability, self-modifying code attacks disk-versus-memory assumptions, and virtualization replaces native semantics.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34 — Junk and CFF</a:t>
            </a:r>
          </a:p>
          <a:p/>
          <a:p>
            <a:r>
              <a:t>Correct the byte example aloud: EB 02 CD 20 90 jumps over the two-byte CD 20 sequence and lands on 90; EB 01 would land on 20. For CFF, identify the dispatcher/state-variable relationship instead of trusting a wheel shape alone.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35 — Self-modifying code and VM</a:t>
            </a:r>
          </a:p>
          <a:p/>
          <a:p>
            <a:r>
              <a:t>For self-modifying code, capture the bytes after the transformation and analyze the dump as a new artifact. For VM obfuscation, distinguish hidden order from replaced instruction semantics and reverse only as much as the decision requires.</a:t>
            </a:r>
          </a:p>
          <a:p/>
          <a:p>
            <a:r>
              <a:t>[Sources]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36 — Anti-debugging</a:t>
            </a:r>
          </a:p>
          <a:p/>
          <a:p>
            <a:r>
              <a:t>Treat anti-debugging as evidence about where the specimen expects observation. PEB offsets and heap values are architecture/build-sensitive; verify them against the target.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37 — PEB</a:t>
            </a:r>
          </a:p>
          <a:p/>
          <a:p>
            <a:r>
              <a:t>Explain BeingDebugged and NtGlobalFlag as fields, not magic universal constants. The exact offsets and auxiliary heap flags depend on architecture and Windows version; the target build is the source of truth.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38 — Timing and exceptions</a:t>
            </a:r>
          </a:p>
          <a:p/>
          <a:p>
            <a:r>
              <a:t>RDTSC is a timestamp-counter read, not guaranteed wall-clock time or literally one count per current CPU cycle. Keep Windows INT3/SEH and Linux ptrace/TracerPid examples separate.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Microsoft Learn — Windows debugging tools: https://learn.microsoft.com/windows-hardware/drivers/debugger/</a:t>
            </a:r>
          </a:p>
          <a:p>
            <a:r>
              <a:t>- pwndbg documentation: https://pwndbg.re/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39 — Packers</a:t>
            </a:r>
          </a:p>
          <a:p/>
          <a:p>
            <a:r>
              <a:t>Frame Demo 2. The packer stub transforms bytes in memory and transfers to an original entry point or later stage. The classic ESP heuristic is 32-bit x86 only because PUSHAD/POPAD are not valid in x86-64 long mode.</a:t>
            </a:r>
          </a:p>
          <a:p/>
          <a:p>
            <a:r>
              <a:t>[Sources]</a:t>
            </a:r>
          </a:p>
          <a:p>
            <a:r>
              <a:t>- UPX project: https://upx.github.io/</a:t>
            </a:r>
          </a:p>
          <a:p>
            <a:r>
              <a:t>- Scylla import reconstruction: https://github.com/NtQuery/Scylla</a:t>
            </a:r>
          </a:p>
          <a:p>
            <a:r>
              <a:t>- FLARE-VM: https://github.com/mandiant/flare-vm</a:t>
            </a:r>
          </a:p>
          <a:p>
            <a:r>
              <a:t>- REMnux: https://docs.remnux.org/</a:t>
            </a:r>
          </a:p>
          <a:p>
            <a:r>
              <a:t>- MITRE ATT&amp;CK: https://attack.mitre.org/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40 — Packer workflow</a:t>
            </a:r>
          </a:p>
          <a:p/>
          <a:p>
            <a:r>
              <a:t>Use a benign UPX-packed practice binary. Compare entry point, sections, entropy, imports, and behavior before and after. The heuristic is a starting point, not a universal unpacking recipe.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UPX project: https://upx.github.io/</a:t>
            </a:r>
          </a:p>
          <a:p>
            <a:r>
              <a:t>- Scylla import reconstruction: https://github.com/NtQuery/Scylla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41 — IAT reconstruction</a:t>
            </a:r>
          </a:p>
          <a:p/>
          <a:p>
            <a:r>
              <a:t>A dump at OEP may have incomplete, redirected, or synthetic import metadata. Not every packer destroys the IAT and not every indirect call resolves by a simple scan. Validate reconstruction against loaded modules and actual call sites.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UPX project: https://upx.github.io/</a:t>
            </a:r>
          </a:p>
          <a:p>
            <a:r>
              <a:t>- Scylla import reconstruction: https://github.com/NtQuery/Scylla</a:t>
            </a:r>
          </a:p>
          <a:p>
            <a:r>
              <a:t>- FLARE-VM: https://github.com/mandiant/flare-vm</a:t>
            </a:r>
          </a:p>
          <a:p>
            <a:r>
              <a:t>- REMnux: https://docs.remnux.org/</a:t>
            </a:r>
          </a:p>
          <a:p>
            <a:r>
              <a:t>- MITRE ATT&amp;CK: https://attack.mitre.org/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42 — Reset</a:t>
            </a:r>
          </a:p>
          <a:p/>
          <a:p>
            <a:r>
              <a:t>Use entropy as a clue, not proof. Compressed resources, certificates, encrypted configuration, and media can also raise entropy; combine it with sections, entry point, imports, and runtime observations.</a:t>
            </a:r>
          </a:p>
          <a:p/>
          <a:p>
            <a:r>
              <a:t>[Sources]</a:t>
            </a:r>
          </a:p>
          <a:p>
            <a:r>
              <a:t>- UPX project: https://upx.github.io/</a:t>
            </a:r>
          </a:p>
          <a:p>
            <a:r>
              <a:t>- Scylla import reconstruction: https://github.com/NtQuery/Scylla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43 — Challenge questions</a:t>
            </a:r>
          </a:p>
          <a:p/>
          <a:p>
            <a:r>
              <a:t>Answer with calibrated language: stripping removes symbols/debug metadata; packing may compress, encrypt, virtualize, or layer code. Static analysis can be offline, but safe execution is a separate question. ASLR favors module-relative offsets and symbol-based breakpoints.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  <a:p>
            <a:r>
              <a:t>- FLARE-VM: https://github.com/mandiant/flare-vm</a:t>
            </a:r>
          </a:p>
          <a:p>
            <a:r>
              <a:t>- REMnux: https://docs.remnux.org/</a:t>
            </a:r>
          </a:p>
          <a:p>
            <a:r>
              <a:t>- MITRE ATT&amp;CK: https://attack.mitre.org/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44 — What makes a reverser</a:t>
            </a:r>
          </a:p>
          <a:p/>
          <a:p>
            <a:r>
              <a:t>Close on three habits: mental models, falsifiable hypotheses, and tool fluency. Add an evidence ledger with observation, interpretation, confidence, and next test.</a:t>
            </a:r>
          </a:p>
          <a:p/>
          <a:p>
            <a:r>
              <a:t>[Sources]</a:t>
            </a:r>
          </a:p>
          <a:p>
            <a:r>
              <a:t>- Microsoft Learn — x64 calling convention: https://learn.microsoft.com/cpp/build/x64-calling-convention</a:t>
            </a:r>
          </a:p>
          <a:p>
            <a:r>
              <a:t>- x86-64 System V ABI: https://gitlab.com/x86-psABIs/x86-64-ABI</a:t>
            </a:r>
          </a:p>
          <a:p>
            <a:r>
              <a:t>- Ghidra documentation: https://ghidra-sre.org/Documentation.html</a:t>
            </a:r>
          </a:p>
          <a:p>
            <a:r>
              <a:t>- IDA Pro: https://hex-rays.com/ida-pro/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45 — Close</a:t>
            </a:r>
          </a:p>
          <a:p/>
          <a:p>
            <a:r>
              <a:t>Invite challenge on mechanisms, not trivia. For an exact offset, state architecture and Windows build assumptions first; for a behavior claim, point to the observation that supports it.</a:t>
            </a:r>
          </a:p>
          <a:p/>
          <a:p>
            <a:r>
              <a:t>[Sources]</a:t>
            </a:r>
          </a:p>
          <a:p>
            <a:r>
              <a:t>- Microsoft Learn — PE Format: https://learn.microsoft.com/windows/win32/debug/pe-format</a:t>
            </a:r>
          </a:p>
          <a:p>
            <a:r>
              <a:t>- Microsoft Learn — PEB reference: https://learn.microsoft.com/windows/win32/api/winternl/ns-winternl-peb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591556" y="1051560"/>
            <a:ext cx="10058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4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RE</a:t>
            </a:r>
            <a:endParaRPr sz="24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67E8F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HANDS-ON TECHNICAL WORKSHOP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2743200"/>
            <a:ext cx="10725912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6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Reversing 101</a:t>
            </a:r>
            <a:endParaRPr sz="46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371600" y="4114800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7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5271516" y="4892040"/>
            <a:ext cx="1645920" cy="0"/>
          </a:xfrm>
          <a:prstGeom prst="line">
            <a:avLst/>
          </a:prstGeom>
          <a:noFill/>
          <a:ln w="11430">
            <a:solidFill>
              <a:srgbClr val="263A5C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186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Presented by Myat Min Khant</a:t>
            </a:r>
            <a:endParaRPr sz="11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6495" y="837248"/>
            <a:ext cx="3143250" cy="4714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WORKSHOP ROADMAP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4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We're Covering</a:t>
            </a:r>
            <a:endParaRPr sz="34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83080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685800" y="1783080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234440" y="1783080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Opening — what RE actually is, and why it's legitimate</a:t>
            </a:r>
            <a:endParaRPr sz="14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548640" y="2496312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85800" y="2496312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02</a:t>
            </a:r>
            <a:endParaRPr sz="15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234440" y="2496312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 — compilation, x86-64, calling conventions</a:t>
            </a:r>
            <a:endParaRPr sz="14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48640" y="3209544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85800" y="3209544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</a:t>
            </a:r>
            <a:endParaRPr sz="15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234440" y="3209544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· Binary Formats — ELF, PE, GOT/PLT, IAT</a:t>
            </a:r>
            <a:endParaRPr sz="14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48640" y="3922776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685800" y="3922776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04</a:t>
            </a:r>
            <a:endParaRPr sz="15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1234440" y="3922776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 — the window-by-window workflow</a:t>
            </a:r>
            <a:endParaRPr sz="14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48640" y="4636008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685800" y="4636008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05</a:t>
            </a:r>
            <a:endParaRPr sz="15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234440" y="4636008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· Dynamic Analysis — GDB, pwndbg, and the debugger's windows</a:t>
            </a:r>
            <a:endParaRPr sz="14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368796" y="1783080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6505956" y="1783080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06</a:t>
            </a:r>
            <a:endParaRPr sz="150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054596" y="1783080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· Obfuscation — junk code, CFF, SMC, VM protection</a:t>
            </a:r>
            <a:endParaRPr sz="14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6368796" y="2496312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6505956" y="2496312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07</a:t>
            </a:r>
            <a:endParaRPr sz="150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7054596" y="2496312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 · Anti-Debugging — PEB, timing, ptrace</a:t>
            </a:r>
            <a:endParaRPr sz="140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6368796" y="3209544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6505956" y="3209544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08</a:t>
            </a:r>
            <a:endParaRPr sz="15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7054596" y="3209544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 · Packers — the ESP law, IAT reconstruction</a:t>
            </a:r>
            <a:endParaRPr sz="14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6368796" y="3922776"/>
            <a:ext cx="5271516" cy="603504"/>
          </a:xfrm>
          <a:prstGeom prst="roundRect">
            <a:avLst>
              <a:gd name="adj" fmla="val 12121"/>
            </a:avLst>
          </a:prstGeom>
          <a:solidFill>
            <a:srgbClr val="121A2B"/>
          </a:solidFill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6505956" y="3922776"/>
            <a:ext cx="50292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09</a:t>
            </a:r>
            <a:endParaRPr sz="150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7054596" y="3922776"/>
            <a:ext cx="4448556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Closing — the questions you'll be asked, and what makes a reverser</a:t>
            </a:r>
            <a:endParaRPr sz="14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Is Reverse Engineering?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locked box: press a button, a light flashes. No blueprint, no manual.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 = opening that box and reconstructing why it behaves the way it does — using only the artifact itself as evidence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software: the box is a compiled binary — bytes your CPU executes, but no human reads directly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Formal definition: deconstructing a man-made artifact to reveal its design, architecture, or embedded knowledge, without the original specification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Notice what's absent from that definition: nothing about malicious intent. It's a neutral technique.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“Isn't reverse engineering illegal?”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Legality is jurisdiction- and context-dependent. Interoperability RE has legal protections in various forms; EULA restrictions are a separate question from copyright law; malware analysis and authorized vuln research are standard lawful practice. It depends on what you're reversing, under what license, in what jurisdiction — this isn't legal advice.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02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 Real-World Domains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Software Maintenance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code gets lost constantly — engineers leave, migrations miss things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production binary needs a patch, and nobody has the source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Someone reads the compiled bytes and rebuilds the mental model first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02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Vulnerability Research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Can't audit source you don't have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Closed-source targets: binary analysis is the only path to a bug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is the actual basis of pentesting closed-source software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 Real-World Domains (cont.)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Malware Analysis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Every new ransomware family gets reversed on discovery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decryptor without understanding the exact crypto scheme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detection signature without understanding what's structurally unique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04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CTF Competitions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compiled binary checks a secret input — find what satisfies it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exact skillset the first three domains need, gamified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Everything in this workshop is directly transferable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04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</a:t>
            </a:r>
            <a:endParaRPr sz="6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840480" y="25603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8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Foundations</a:t>
            </a:r>
            <a:endParaRPr sz="3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3840480" y="361188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you must know before you analyze anything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05</a:t>
            </a:r>
            <a:endParaRPr sz="1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1885950"/>
            <a:ext cx="2667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Compilation Pipeline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559052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559052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Preprocess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13232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Macros expand, headers inline. Nothing survives to the binary.</a:t>
            </a:r>
            <a:endParaRPr sz="1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3099816" y="3131820"/>
            <a:ext cx="283464" cy="182880"/>
          </a:xfrm>
          <a:prstGeom prst="rightArrow">
            <a:avLst/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3401568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411980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4411980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538728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Compile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566160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→ assembly. Names &amp; types become optional; optimizer reorders, inlines, kills dead code.</a:t>
            </a:r>
            <a:endParaRPr sz="1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952744" y="3131820"/>
            <a:ext cx="283464" cy="182880"/>
          </a:xfrm>
          <a:prstGeom prst="rightArrow">
            <a:avLst/>
          </a:prstGeom>
          <a:solidFill>
            <a:srgbClr val="121A2B"/>
          </a:solidFill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6254496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7264908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7264908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</a:t>
            </a:r>
            <a:endParaRPr sz="15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391656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Assemble</a:t>
            </a:r>
            <a:endParaRPr sz="14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419088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Assembly → object files (.o): raw machine code + relocation tables.</a:t>
            </a:r>
            <a:endParaRPr sz="110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8805672" y="3131820"/>
            <a:ext cx="283464" cy="182880"/>
          </a:xfrm>
          <a:prstGeom prst="rightArrow">
            <a:avLst/>
          </a:prstGeom>
          <a:solidFill>
            <a:srgbClr val="121A2B"/>
          </a:solidFill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9107424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10117836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10117836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</a:t>
            </a:r>
            <a:endParaRPr sz="15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9244584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Link</a:t>
            </a:r>
            <a:endParaRPr sz="140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9272016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Objects combine; symbols resolved, addresses assigned; GOT/PLT placeholders left for runtime.</a:t>
            </a:r>
            <a:endParaRPr sz="11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you see in IDA/Ghidra is the compiler's output, not the programmer's intent. A 4-iteration loop can become 4 near-identical unrolled blocks with no loop structure left at all.</a:t>
            </a:r>
            <a:endParaRPr sz="13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06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Gets Lost in Compilation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Variable, function, and type names — all optional in the output; a release build strips them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Loop structure — unrolled into repeated blocks with no trace of the original for/while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 boundaries — small functions get inlined out of existence entirely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Dead branches — eliminated if the compiler can prove they never execute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targets (commercial software, malware, CTF release builds) are almost always built optimized — recognizing these artifacts isn't optional.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“Can't you just compile at -O0 to avoid this?”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Yes — for your own practice binaries. But real-world targets are shipped optimized because unoptimized builds are slower and larger. Recognizing optimizer artifacts is required to reverse anything that actually exists in the wild.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07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x86-64 General-Purpose Registers</a:t>
            </a:r>
            <a:endParaRPr sz="3000"/>
          </a:p>
        </p:txBody>
      </p:sp>
      <p:graphicFrame>
        <p:nvGraphicFramePr>
          <p:cNvPr id="10" name="Table 0"/>
          <p:cNvGraphicFramePr/>
          <p:nvPr/>
        </p:nvGraphicFramePr>
        <p:xfrm>
          <a:off x="548640" y="1783080"/>
          <a:ext cx="11091672" cy="3657600"/>
        </p:xfrm>
        <a:graphic>
          <a:graphicData uri="http://schemas.openxmlformats.org/drawingml/2006/table">
            <a:tbl>
              <a:tblPr/>
              <a:tblGrid>
                <a:gridCol w="2002536"/>
                <a:gridCol w="2002536"/>
                <a:gridCol w="2002536"/>
                <a:gridCol w="2002536"/>
                <a:gridCol w="3081528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64-bit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32-bit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16-bit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8-bit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Typical Role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RAX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EAX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AL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Return value / accumulator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RBX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EBX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BX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BL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Callee-saved general purpose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RCX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ECX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CX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CL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4th arg (Linux) / counter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RDX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EDX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DL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3rd arg (Linux) / return (high)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RSI / RDI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ESI / EDI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 / DI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SIL / DIL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2nd / 1st arg (Linux)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RSP / RBP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ESP / EBP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—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—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Stack pointer / frame pointer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R8 – R15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R8D – R15D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R8W – R15W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R8B – R15B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Extended GP / 5th–6th args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>
            <a:spLocks noGrp="1"/>
          </p:cNvSpPr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R8–R9 double as the 5th–6th integer arguments on both System V and Microsoft x64.</a:t>
            </a:r>
            <a:endParaRPr sz="11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08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Calling Conventions Compared</a:t>
            </a:r>
            <a:endParaRPr sz="3000"/>
          </a:p>
        </p:txBody>
      </p:sp>
      <p:graphicFrame>
        <p:nvGraphicFramePr>
          <p:cNvPr id="10" name="Table 0"/>
          <p:cNvGraphicFramePr/>
          <p:nvPr/>
        </p:nvGraphicFramePr>
        <p:xfrm>
          <a:off x="548640" y="1783080"/>
          <a:ext cx="11091672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4233672"/>
                <a:gridCol w="2468880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Convention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Arg Order / Location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Stack Cleanup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Return Value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cdecl (x86-32)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Pushed right-to-left on stack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Caller (add esp,N)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EAX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 V AMD64 (Linux/macOS)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RDI, RSI, RDX, RCX, R8, R9 — then stack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N/A (register-based)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RAX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Microsoft x64 (Windows)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RCX, RDX, R8, R9 — then stack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N/A (register-based)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RAX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>
            <a:spLocks noGrp="1"/>
          </p:cNvSpPr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single fastest disassembly-reading trick on Linux: before a call, read what just landed in RDI → RSI → RDX — args 1, 2, 3, no exceptions.</a:t>
            </a:r>
            <a:endParaRPr sz="11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09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Caller-Saved vs. Callee-Saved (System V)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Caller-Saved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RAX, RCX, RDX, RSI, RDI, R8–R11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called function may overwrite these freely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the caller needs the value after the call, it must save it itself first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Callee-Saved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RBX, RBP, R12–R15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called function must restore these before returning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Prologue push rbx / push r12 = “I'll use these, saving them first” — matching pops before ret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10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Stack Frame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 pushes the return address, jumps to the target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Prologue: push rbp → mov rbp, rsp → sub rsp, N (save frame ptr, set new one, reserve locals)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Locals at negative RBP offsets: [rbp-8], [rbp-16] …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Stack-passed args at positive offsets: [rbp+16] onward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Epilogue: mov rsp, rbp → pop rbp → ret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Optimized builds often omit RBP entirely, tracking everything relative to RSP instead — don't be thrown by a missing push rbp.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11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FOUNDATIONS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16-Byte Stack Alignment Rule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x86-64 requires RSP 16-byte aligned at the moment call executes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SSE instructions on 128-bit values fault on unaligned access — the ABI guarantees alignment across calls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 itself pushes an 8-byte return address, immediately misaligning by 8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 every function is entered with RSP at 16n + 8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prologue's push rbp pushes another 8 bytes, restoring 16-byte alignment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 crashes immediately inside an SSE/AVX library call — why?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Misaligned stack upstream is a classic cause. Check whether something earlier in the call chain pushed an odd number of 8-byte values without a compensating adjustment.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12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· BINARY FORMATS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ELF: Two Views of the Same File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Sections (linker &amp; debugger view)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.text — executable code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.data / .bss — initialized / zero-init globals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.rodata — strings, constants, crypto S-boxes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.symtab — full symbols (often stripped)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.dynsym — dynamic symbols for dynamically linked objects; not present in every ELF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Segments (OS loader view)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PT_LOAD — mapped into memory (usually R+X and R+W)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PT_INTERP — path to the dynamic linker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PT_DYNAMIC — metadata for the dynamic linker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readelf -S / -l / -d — sections / segments / dynamic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15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· BINARY FORMATS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GOT / PLT: Lazy Binding, Step by Step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559052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559052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85800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Call printf@plt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13232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 never calls printf directly — always through its PLT stub.</a:t>
            </a:r>
            <a:endParaRPr sz="11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3099816" y="3131820"/>
            <a:ext cx="283464" cy="182880"/>
          </a:xfrm>
          <a:prstGeom prst="rightArrow">
            <a:avLst/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3401568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4411980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4411980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538728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 Call Only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566160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PLT stub jumps into the dynamic linker to resolve printf's real address.</a:t>
            </a:r>
            <a:endParaRPr sz="11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952744" y="3131820"/>
            <a:ext cx="283464" cy="182880"/>
          </a:xfrm>
          <a:prstGeom prst="rightArrow">
            <a:avLst/>
          </a:prstGeom>
          <a:solidFill>
            <a:srgbClr val="121A2B"/>
          </a:solidFill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6254496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7264908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7264908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</a:t>
            </a:r>
            <a:endParaRPr sz="15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391656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GOT Slot Filled</a:t>
            </a:r>
            <a:endParaRPr sz="14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419088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Resolved address is written into the .got.plt slot for printf.</a:t>
            </a:r>
            <a:endParaRPr sz="110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8805672" y="3131820"/>
            <a:ext cx="283464" cy="182880"/>
          </a:xfrm>
          <a:prstGeom prst="rightArrow">
            <a:avLst/>
          </a:prstGeom>
          <a:solidFill>
            <a:srgbClr val="121A2B"/>
          </a:solidFill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9107424" y="2148840"/>
            <a:ext cx="2532888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10117836" y="1892808"/>
            <a:ext cx="512064" cy="512064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10117836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</a:t>
            </a:r>
            <a:endParaRPr sz="15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9244584" y="2468880"/>
            <a:ext cx="225856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 Later Calls</a:t>
            </a:r>
            <a:endParaRPr sz="140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9272016" y="3017520"/>
            <a:ext cx="2203704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PLT stub jumps straight through the GOT slot — linker never consulted again.</a:t>
            </a:r>
            <a:endParaRPr sz="11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Unrecognized in IDA: call sub_401050 whose body is one indirect jump through a GOT-looking address — that's an unlabeled PLT stub. GOT overwriting is also a classic exploitation technique.</a:t>
            </a:r>
            <a:endParaRPr sz="13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16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· BINARY FORMATS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 Format &amp; the Import Address Table — Windows demo anchor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DOS stub → PE header → section headers → sections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Import/Export directories are described by data-directory entries; they commonly reside in .rdata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.rsrc — icons, dialogs, version info, embedded strings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IAT = loader-populated function-pointer table; delay-load imports are a lazy exception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Packers may erase, redirect, or rebuild imports — dynamic API resolution can hide behavior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 IAT mechanically the same as GOT/PLT?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Conceptually equivalent, mechanically different. ELF commonly uses lazy PLT/GOT binding; Windows normally populates the IAT before entry, while delay-load imports are a deliberate exception.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</a:t>
            </a:r>
            <a:endParaRPr sz="6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840480" y="25603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8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Analysis</a:t>
            </a:r>
            <a:endParaRPr sz="3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3840480" y="361188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window-by-window workflow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18</a:t>
            </a:r>
            <a:endParaRPr sz="1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1885950"/>
            <a:ext cx="2667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IDA Pro vs. Ghidra — The Honest Comparison</a:t>
            </a:r>
            <a:endParaRPr sz="3000"/>
          </a:p>
        </p:txBody>
      </p:sp>
      <p:graphicFrame>
        <p:nvGraphicFramePr>
          <p:cNvPr id="10" name="Table 0"/>
          <p:cNvGraphicFramePr/>
          <p:nvPr/>
        </p:nvGraphicFramePr>
        <p:xfrm>
          <a:off x="548640" y="1783080"/>
          <a:ext cx="11091672" cy="2286000"/>
        </p:xfrm>
        <a:graphic>
          <a:graphicData uri="http://schemas.openxmlformats.org/drawingml/2006/table">
            <a:tbl>
              <a:tblPr/>
              <a:tblGrid>
                <a:gridCol w="2029968"/>
                <a:gridCol w="4489704"/>
                <a:gridCol w="45720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IDA Pro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Ghidra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Cost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Thousands of dollars (full license)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Free, open-source (NSA, 2019)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Decompiler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Hex-Rays — generally cleaner output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Built-in for every supported arch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Architecture support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Deepest for x86/x64/ARM; Free tier limited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Very wide out of the box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Ecosystem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200+ plugins, FLIRT signatures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Java/Python scripting, FidDb, collab server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>
            <a:spLocks noGrp="1"/>
          </p:cNvSpPr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Learn both. Use whichever produces cleaner pseudocode on the specific binary in front of you — that varies case by case.</a:t>
            </a:r>
            <a:endParaRPr sz="11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19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Window Workflow — Order of Operations</a:t>
            </a:r>
            <a:endParaRPr sz="28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Don't find main and read top to bottom — that's slow and backwards.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disassembler is a database with a dozen views over the same analysis — each answers a different question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Imports/Functions → what kind of program is this? (30 seconds, huge payoff)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 Strings → where does the interesting logic probably live?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 Xrefs → jump directly there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Each step narrows the search space by ~99% before you read a single line in detail.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20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Window 1 &amp; 2: Imports and Strings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Imports / Functions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CryptEncrypt / BCryptGenRandom → crypto involved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recv / send / connect → networked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CreateThread / WaitForSingleObject → concurrency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ptrace in .dynsym → may anti-debug itself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Strings (Shift+F12 / Defined Strings)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'Correct', 'Wrong password', URLs, file paths — each is a landmark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Sparse list? IDA's auto-detect can miss short/unusual-encoding strings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Lower the min-length threshold, or run strings -e l for wide chars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21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Window 3: Cross-References (Xrefs)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single highest-leverage keystroke in the whole workflow: select an item, press X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 'Correct' in Strings → X → jump to the success branch directly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 backward from there: what condition, evaluated just before, decided execution reached here?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just for strings — X on a function shows every call site; X on a global shows every read/write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Ghidra equivalent: the XREF[n]: annotation in the Listing view, double-click to jump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if the string has twenty xrefs, not one?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Happens with generic/reused strings (shared logging, common errors). Pick a more specific, more unique string — the more context-specific it is, the fewer and more relevant the xrefs.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22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Windows 4–6: Hex View, Structures, Segments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Hex View &amp; Structures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Hex Dump (Alt+8): raw bytes, for spotting junk code / SMC patterns disassembly gets wrong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Structures / Local Types: define a struct once, apply everywhere — [rdi+0x18] becomes [rdi+packet.length]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6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Segments / Memory Map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Every loaded section, address range, permissions (R/W/X)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 unusual, unnamed executable segment is often your first static clue the binary is packed or self-modifying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23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Graph, Text, and Decompiler Views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G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 vs. Text (Space)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 view: the shape of branching logic — spot control-flow flattening's 'wheel' at a glance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Text view: precise, sequential instruction reading when tracing one value through several ops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Toggle constantly — don't pick one and stay there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Decompiler (F5)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Reconstructed C-like pseudocode — where most reading time actually happens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Types are guessed and sometimes wrong — manually retype when off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Synced with disassembly — click to drop from pseudocode to exact instructions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24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Rename &amp; Retype Relentlessly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single biggest productivity multiplier in the entire discipline.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Beginners skip it because it feels like busywork instead of progress — it's the opposite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var_18 identified as user input? Rename it user_input immediately — don't wait for full understanding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rename updates every window at once: Functions, every Xref list, the decompiler output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IDA persists in the .idb database; Ghidra persists in the project — never analyze anonymously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Doesn't constant renaming slow you down mid-analysis?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rename itself takes seconds; the compounding readability payoff across a session — especially revisiting the same function dozens of times — dwarfs that cost.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25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STATIC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Compiler Code vs. Author Code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CRT startup (_start, __libc_start_main) runs before main — generic setup, not program logic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Statically-linked libc functions bulk the binary with code that isn't the author's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Compiler helpers: __stack_chk_fail, __udivdi3, __tls_get_addr — exist for language features, not by hand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FLIRT (IDA) / FidDb (Ghidra) auto-identify these — trust the label, move on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What's left: unlabeled sub_XXXXXX near main, taking user input, returning a boolean — your real targets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do you tell CRT code from author code without signature matching?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CRT code sits at fixed, predictable locations near the entry point, calls a consistent set of low-level setup routines, and shares no data with the binary-specific strings you found in the Strings window.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26</a:t>
            </a:r>
            <a:endParaRPr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04</a:t>
            </a:r>
            <a:endParaRPr sz="6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840480" y="25603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8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Dynamic Analysis</a:t>
            </a:r>
            <a:endParaRPr sz="3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3840480" y="361188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you actually do in a debugger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27</a:t>
            </a:r>
            <a:endParaRPr sz="1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1885950"/>
            <a:ext cx="2667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· DYNAMIC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GDB + pwndbg Essentials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G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GDB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break main / b *0x401234 — set breakpoints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 / si — step over / step into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x/20x $rsp — examine memory in hex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 $rax = 0 — overwrite a register live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pwndbg Additions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 — registers + stack + disasm, every stop, automatically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telescope $rsp 20 — stack with pointer-chase dereferencing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vmmap — every mapped region with permissions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checksec — NX, PIE, canary, RELRO at a glance — run this first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28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· DYNAMIC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Three Questions to Ask While Debugging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Dynamic analysis isn't “run it and watch” — go in with specific questions.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Is my input reaching the comparison? Breakpoint the cmp — is the expected value visible in a register?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 What transformation does my input go through? Bracket the function; compare before/after byte patterns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 Is there a timing side-channel? Character-by-character checks leak timing — brute-force one byte at a time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29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· DYNAMIC ANALYSIS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Debugger's Windows</a:t>
            </a:r>
            <a:endParaRPr sz="3000"/>
          </a:p>
        </p:txBody>
      </p:sp>
      <p:graphicFrame>
        <p:nvGraphicFramePr>
          <p:cNvPr id="10" name="Table 0"/>
          <p:cNvGraphicFramePr/>
          <p:nvPr/>
        </p:nvGraphicFramePr>
        <p:xfrm>
          <a:off x="548640" y="1783080"/>
          <a:ext cx="11091672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Window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What It Shows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When You Reach For It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Registers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Live register values at the current breakpoint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Checking if your input reached the comparison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Disassembly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Instructions around RIP, next instruction highlighted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Single-stepping through unfamiliar code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Stack (telescope)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Live stack contents with pointer-chase dereferencing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Tracing arguments, return addresses, buffers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Memory / Heap Dump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Arbitrary address ranges, editable live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Inspecting decrypted regions after SMC, heap state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Backtrace / Call Stack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The chain of return addresses that got you here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Understanding how execution reached this function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>
            <a:spLocks noGrp="1"/>
          </p:cNvSpPr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pwndbg's context command prints most of these windows together automatically, at every single stop — that's the entire reason to run it over plain GDB.</a:t>
            </a:r>
            <a:endParaRPr sz="11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30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MEME BREAK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EAF6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ME: I'LL JUST SET ONE BREAKPOINT</a:t>
            </a:r>
            <a:endParaRPr sz="25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4631436" y="269748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4631436" y="26974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(×_×)</a:t>
            </a:r>
            <a:endParaRPr sz="3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097280" y="4297680"/>
            <a:ext cx="9994392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ALSO ME, 40 BREAKPOINTS LATER: STILL NO IDEA WHAT'S IN RAX</a:t>
            </a:r>
            <a:endParaRPr sz="2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(relatable? relatable.)</a:t>
            </a:r>
            <a:endParaRPr sz="11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2440781"/>
            <a:ext cx="2667000" cy="163353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05</a:t>
            </a:r>
            <a:endParaRPr sz="6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840480" y="25603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8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 Obfuscation</a:t>
            </a:r>
            <a:endParaRPr sz="3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3840480" y="361188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deep technical truth — junk code through VM protection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32</a:t>
            </a:r>
            <a:endParaRPr sz="1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1885950"/>
            <a:ext cx="2667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· OBFUSCATION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Junk Code &amp; Control Flow Flattening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Junk code: EB 02 CD 20 90 — jmp +2 skips int 0x20 and lands on NOP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linear-sweep disassembler may decode skipped bytes anyway — one wrong decode point can cascade into garbage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Fix: D to undefine, C on the real destination to force correct re-disassembly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OLLVM flattening: A→B→C becomes a state variable + dispatcher switch — graph looks like a wheel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Defeat: trace the concrete state, map state-variable writes, or use D-810 for stock OLLVM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33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· OBFUSCATION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Self-Modifying Code &amp; VM Protection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Self-Modifying Code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Bytes on disk aren't the bytes that execute — a decrypt stub rewrites memory before jumping in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disassembly sees only garbage at that region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Fix: breakpoint the jump into the region, dump memory, analyze the dump statically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V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VM-Based Obfuscation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 x86 replaced with custom bytecode + an embedded interpreter loop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 the fetch-decode-execute switch; reverse each opcode case by hand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 a disassembler for the custom ISA — slow; in CTF, look for a shortcut first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34</a:t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06</a:t>
            </a:r>
            <a:endParaRPr sz="6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840480" y="25603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8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Anti-Debugging</a:t>
            </a:r>
            <a:endParaRPr sz="3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3840480" y="361188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PEB flags, timing checks, exception &amp; ptrace tricks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35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 · ANTI-DEBUGGING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PEB-Based Detection (Windows)</a:t>
            </a:r>
            <a:endParaRPr sz="3000"/>
          </a:p>
        </p:txBody>
      </p:sp>
      <p:graphicFrame>
        <p:nvGraphicFramePr>
          <p:cNvPr id="10" name="Table 0"/>
          <p:cNvGraphicFramePr/>
          <p:nvPr/>
        </p:nvGraphicFramePr>
        <p:xfrm>
          <a:off x="548640" y="1783080"/>
          <a:ext cx="11091672" cy="1828800"/>
        </p:xfrm>
        <a:graphic>
          <a:graphicData uri="http://schemas.openxmlformats.org/drawingml/2006/table">
            <a:tbl>
              <a:tblPr/>
              <a:tblGrid>
                <a:gridCol w="2999232"/>
                <a:gridCol w="2505456"/>
                <a:gridCol w="2505456"/>
                <a:gridCol w="3081528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Field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Offset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Normal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F8FAFC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Debugged</a:t>
                      </a:r>
                      <a:endParaRPr sz="130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BeingDebugged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0x02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0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 — what IsDebuggerPresent() reads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NtGlobalFlag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0x68 (32) / 0xBC (64)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0x00</a:t>
                      </a:r>
                      <a:endParaRPr sz="125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0x70 — only if debugger CREATED the process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Heap Flags / ForceFlags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0x0C / 0x10 of heap hdr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0x02 / 0x00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0F172A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0x50000062 / 0x40000060</a:t>
                      </a:r>
                      <a:endParaRPr sz="125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anchor="ctr">
                    <a:lnL w="9525" cmpd="sng">
                      <a:solidFill>
                        <a:srgbClr val="E2E8F0"/>
                      </a:solidFill>
                      <a:prstDash val="solid"/>
                    </a:lnL>
                    <a:lnR w="9525" cmpd="sng">
                      <a:solidFill>
                        <a:srgbClr val="E2E8F0"/>
                      </a:solidFill>
                      <a:prstDash val="solid"/>
                    </a:lnR>
                    <a:lnT w="9525" cmpd="sng">
                      <a:solidFill>
                        <a:srgbClr val="E2E8F0"/>
                      </a:solidFill>
                      <a:prstDash val="solid"/>
                    </a:lnT>
                    <a:lnB w="9525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>
            <a:spLocks noGrp="1"/>
          </p:cNvSpPr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PEB reachable at fs:[0x30] (32-bit) / gs:[0x60] (64-bit) — a plain memory read, no syscall, which is exactly why it's cheap and popular.</a:t>
            </a:r>
            <a:endParaRPr sz="11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36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 · ANTI-DEBUGGING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Timing, Exceptions &amp; ptrace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463040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RDTSC Timing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868680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 cycle counter, run code, read again, compare elapsed cycles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Single-stepping under a debugger: hundreds of cycles → millions (ptrace round-trips)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Bypass: run-to-address, patch threshold, or Frida-hook rdtsc</a:t>
            </a:r>
            <a:endParaRPr sz="13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6323076" y="173736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1A2B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6643116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7237476" y="2011680"/>
            <a:ext cx="41285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SEH &amp; Linux ptrace</a:t>
            </a:r>
            <a:endParaRPr sz="17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643116" y="2651760"/>
            <a:ext cx="4677156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Windows: self-triggered INT3, handler behavior differs when debugged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Linux: ptrace(PTRACE_TRACEME) fails with EPERM if GDB is already the tracer</a:t>
            </a:r>
            <a:endParaRPr sz="13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/proc/self/status — TracerPid: N line reveals an attached debugger</a:t>
            </a:r>
            <a:endParaRPr sz="13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37</a:t>
            </a:r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ellipse">
            <a:avLst/>
          </a:prstGeom>
          <a:solidFill>
            <a:srgbClr val="121A2B"/>
          </a:solidFill>
          <a:ln w="11430">
            <a:solidFill>
              <a:srgbClr val="263A5C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2148840"/>
            <a:ext cx="256032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07</a:t>
            </a:r>
            <a:endParaRPr sz="6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840480" y="2560320"/>
            <a:ext cx="76809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8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Packers</a:t>
            </a:r>
            <a:endParaRPr sz="38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3840480" y="3611880"/>
            <a:ext cx="74980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Architecture, the ESP law, and IAT reconstruction</a:t>
            </a:r>
            <a:endParaRPr sz="15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38</a:t>
            </a:r>
            <a:endParaRPr sz="1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1885950"/>
            <a:ext cx="2667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 · PACKERS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Packer Architecture &amp; the 32-bit ESP Heuristic — packed demo anchor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Stub runs → transforms original code/data in memory → transfers to OEP or a later stage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Classic ESP heuristic: 32-bit x86 pushad saves registers; popad restores them near the OEP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heuristic does not apply to x64: PUSHAD/POPAD are not valid in long mode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x64dbg or WinDbg to confirm the memory transformation and the transfer point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Demo 2: use a benign UPX-packed build and compare sections, imports, and behavior before/after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589520" y="17373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0" y="196596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F472D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CHALLENGED</a:t>
            </a:r>
            <a:endParaRPr sz="11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863840" y="2286000"/>
            <a:ext cx="3502152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i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Does the ESP law work on every packer?</a:t>
            </a:r>
            <a:endParaRPr sz="13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863840" y="2926080"/>
            <a:ext cx="3502152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— the classic pushad/popad heuristic is a 32-bit x86 starting point. x64 protectors use different context-saving and unpacking patterns, and some packers avoid the pattern deliberately.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39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 · PACKERS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IAT Reconstruction After Unpacking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Dumping at OEP gives code + data, but import metadata may be incomplete, redirected, or synthetic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Some packers preserve parts of the IAT; others erase or rebuild it dynamically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Scylla can assist with common indirect-call/import reconstruction cases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Validate recovered imports against loaded module ranges and actual call sites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Demo 2 success: the dump loads and matches the pre-packed benign build's behavior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40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MEME BREAK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1097280" y="1463040"/>
            <a:ext cx="9994392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EAF6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ANALYSIS: ENTROPY = 7.98</a:t>
            </a:r>
            <a:endParaRPr sz="25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4631436" y="269748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4631436" y="269748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 ¬‿¬)</a:t>
            </a:r>
            <a:endParaRPr sz="3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097280" y="4297680"/>
            <a:ext cx="9994392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ME: YEP, THAT'S PACKED</a:t>
            </a:r>
            <a:endParaRPr sz="2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(relatable? relatable.)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Questions You'll Be Asked</a:t>
            </a:r>
            <a:endParaRPr sz="28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48640" y="173736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“Stripping vs. packing?” — stripping removes names (code still readable); packing encrypts the code itself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“NOP IsDebuggerPresent, am I safe?” — No. Real anti-debug layers multiple independent checks at once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“What is ASLR and how does it affect reversing?” — It randomizes load addresses per run; use symbol-relative breakpoints, not hardcoded ones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“Can you reverse a binary you can't execute?” — Yes. Static analysis never requires execution</a:t>
            </a:r>
            <a:endParaRPr sz="150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“How do you handle a stripped binary?” — FLIRT/FidDb, manual renaming, BinDiff/Diaphora, public source matching</a:t>
            </a:r>
            <a:endParaRPr sz="15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F472D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42</a:t>
            </a:r>
            <a:endParaRPr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0" y="59436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CLOSING</a:t>
            </a:r>
            <a:endParaRPr sz="13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914400" y="100584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22D3E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Actually Makes Someone Good at This</a:t>
            </a:r>
            <a:endParaRPr sz="32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48640" y="2377440"/>
            <a:ext cx="3453384" cy="3291840"/>
          </a:xfrm>
          <a:prstGeom prst="roundRect">
            <a:avLst>
              <a:gd name="adj" fmla="val 2778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77240" y="260604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</a:t>
            </a:r>
            <a:endParaRPr sz="22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77240" y="3246120"/>
            <a:ext cx="299618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Mental Model Building</a:t>
            </a:r>
            <a:endParaRPr sz="16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77240" y="3886200"/>
            <a:ext cx="2996184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 accurate models fast from minimal evidence. A 256-byte table + index-and-XOR loop = “RC4 key scheduling” before reading further — only comes from volume of practice.</a:t>
            </a:r>
            <a:endParaRPr sz="12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4367784" y="2377440"/>
            <a:ext cx="3453384" cy="3291840"/>
          </a:xfrm>
          <a:prstGeom prst="roundRect">
            <a:avLst>
              <a:gd name="adj" fmla="val 2778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4596384" y="260604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02</a:t>
            </a:r>
            <a:endParaRPr sz="22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96384" y="3246120"/>
            <a:ext cx="299618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Hypothesis-Driven Analysis</a:t>
            </a:r>
            <a:endParaRPr sz="16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596384" y="3886200"/>
            <a:ext cx="2996184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You don't read every instruction. Form a falsifiable hypothesis, find evidence, move on. ~70% reversing, ~30% educated guessing — the skill is better guesses, faster.</a:t>
            </a:r>
            <a:endParaRPr sz="12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8186928" y="2377440"/>
            <a:ext cx="3453384" cy="3291840"/>
          </a:xfrm>
          <a:prstGeom prst="roundRect">
            <a:avLst>
              <a:gd name="adj" fmla="val 2778"/>
            </a:avLst>
          </a:prstGeom>
          <a:solidFill>
            <a:srgbClr val="121A2B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8415528" y="260604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C5D7E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03</a:t>
            </a:r>
            <a:endParaRPr sz="22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415528" y="3246120"/>
            <a:ext cx="299618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Tool Fluency</a:t>
            </a:r>
            <a:endParaRPr sz="16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8415528" y="3886200"/>
            <a:ext cx="2996184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strings → file → IDA/Ghidra → GDB, without thinking. The tools don't make you a reverser — understanding does. Tools just make you faster.</a:t>
            </a:r>
            <a:endParaRPr sz="12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22D3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REVERSE ENGINEERING WORKSHOP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0" y="256032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400" b="1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</a:t>
            </a:r>
            <a:endParaRPr sz="44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1371600" y="352044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>
                <a:solidFill>
                  <a:srgbClr val="C5D7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Questions? Challenge me on any offset, register, or mechanism.</a:t>
            </a:r>
            <a:endParaRPr sz="15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271516" y="4114800"/>
            <a:ext cx="1645920" cy="0"/>
          </a:xfrm>
          <a:prstGeom prst="line">
            <a:avLst/>
          </a:prstGeom>
          <a:noFill/>
          <a:ln w="11430">
            <a:solidFill>
              <a:srgbClr val="263A5C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5" y="1885950"/>
            <a:ext cx="2667000" cy="400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19502</Words>
  <Application>WPS Presentation</Application>
  <PresentationFormat>Converted Presentation</PresentationFormat>
  <Paragraphs>899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mratminkhant</cp:lastModifiedBy>
  <cp:revision>1</cp:revision>
  <dcterms:created xsi:type="dcterms:W3CDTF">2026-08-08T19:13:17Z</dcterms:created>
  <dcterms:modified xsi:type="dcterms:W3CDTF">2026-08-08T19:13:17Z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530D7C989E774148A3D2AAEF55FF5CBC_12</vt:lpwstr>
  </property>
</Properties>
</file>